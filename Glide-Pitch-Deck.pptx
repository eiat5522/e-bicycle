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2011680"/>
            <a:ext cx="5486400" cy="5486400"/>
          </a:xfrm>
          <a:prstGeom prst="ellipse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3474720"/>
            <a:ext cx="4114800" cy="411480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2B881"/>
                </a:solidFill>
                <a:latin typeface="Calibri"/>
              </a:rPr>
              <a:t>GLIDE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Smart E-Bike Sharing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0" i="0">
                <a:solidFill>
                  <a:srgbClr val="C8E6DA"/>
                </a:solidFill>
                <a:latin typeface="Calibri"/>
              </a:rPr>
              <a:t>for the Cities of Tomorrow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377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A9C7BD"/>
                </a:solidFill>
                <a:latin typeface="Calibri"/>
              </a:rPr>
              <a:t>A locally deployable, privacy-first mobility platform —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A9C7BD"/>
                </a:solidFill>
                <a:latin typeface="Calibri"/>
              </a:rPr>
              <a:t>built to meet public-sector data-residency and compliance requirements.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26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2B881"/>
                </a:solidFill>
                <a:latin typeface="Calibri"/>
              </a:rPr>
              <a:t>Investor &amp; Product Briefing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1A2B2A"/>
                </a:solidFill>
                <a:latin typeface="Calibri"/>
              </a:rPr>
              <a:t>Cities are congested, polluted, and stuck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95728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2B2A"/>
                </a:solidFill>
                <a:latin typeface="Calibri"/>
              </a:rPr>
              <a:t>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Peak-hour congestion costs cities billions in lost productivity and fuel every year.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201168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22192" y="23317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2" y="2395728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32004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2B2A"/>
                </a:solidFill>
                <a:latin typeface="Calibri"/>
              </a:rPr>
              <a:t>Emissions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2" y="370332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Transport is a top source of urban CO₂; car trips under 3 km dominate the mix.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201168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38544" y="23317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8544" y="2395728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32004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2B2A"/>
                </a:solidFill>
                <a:latin typeface="Calibri"/>
              </a:rPr>
              <a:t>Last-mile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370332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Public transit leaves a painful gap between stations and final destinations.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201168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54896" y="23317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54896" y="2395728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6" y="32004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2B2A"/>
                </a:solidFill>
                <a:latin typeface="Calibri"/>
              </a:rPr>
              <a:t>Data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370332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Public mobility data increasingly must stay on sovereign, locally controlled infrastructure.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Glide  —  Smart E-Bike Sharing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2B881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Glide is a complete e-bike sharing system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 i="0">
                <a:solidFill>
                  <a:srgbClr val="C8E6DA"/>
                </a:solidFill>
                <a:latin typeface="Calibri"/>
              </a:rPr>
              <a:t>— riders get a frictionless app; operators get full fleet control.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651760"/>
            <a:ext cx="310896" cy="310896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3347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E6F2ED"/>
                </a:solidFill>
                <a:latin typeface="Calibri"/>
              </a:rPr>
              <a:t>Dockless, GPS-tracked e-bikes unlocked by phone in seconds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20440"/>
            <a:ext cx="310896" cy="310896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50215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E6F2ED"/>
                </a:solidFill>
                <a:latin typeface="Calibri"/>
              </a:rPr>
              <a:t>Demand-aware rebalancing and geofenced service areas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389120"/>
            <a:ext cx="310896" cy="310896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3708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E6F2ED"/>
                </a:solidFill>
                <a:latin typeface="Calibri"/>
              </a:rPr>
              <a:t>Self-hosted platform — your data never leaves your jurisdiction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257800"/>
            <a:ext cx="310896" cy="310896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23951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E6F2ED"/>
                </a:solidFill>
                <a:latin typeface="Calibri"/>
              </a:rPr>
              <a:t>Open, standards-based architecture with no vendor lock-in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PRODUCT  ·  RIDER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1A2B2A"/>
                </a:solidFill>
                <a:latin typeface="Calibri"/>
              </a:rPr>
              <a:t>Everything a rider needs, in one tap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9728" cy="1737360"/>
          </a:xfrm>
          <a:prstGeom prst="rect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A2B2A"/>
                </a:solidFill>
                <a:latin typeface="Calibri"/>
              </a:rPr>
              <a:t>Instant unlock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Scan or tap to rent — no kiosk, no wait.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116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011680"/>
            <a:ext cx="109728" cy="1737360"/>
          </a:xfrm>
          <a:prstGeom prst="rect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2402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A2B2A"/>
                </a:solidFill>
                <a:latin typeface="Calibri"/>
              </a:rPr>
              <a:t>Live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432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See nearby bikes, docks, and battery in real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011680"/>
            <a:ext cx="109728" cy="1737360"/>
          </a:xfrm>
          <a:prstGeom prst="rect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2402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A2B2A"/>
                </a:solidFill>
                <a:latin typeface="Calibri"/>
              </a:rPr>
              <a:t>Smart 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7432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Pay-per-ride, passes, and eco-rewards built 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86200"/>
            <a:ext cx="109728" cy="1737360"/>
          </a:xfrm>
          <a:prstGeom prst="rect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A2B2A"/>
                </a:solidFill>
                <a:latin typeface="Calibri"/>
              </a:rPr>
              <a:t>Safety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61772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Geofenced speed zones and trip history.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8862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886200"/>
            <a:ext cx="109728" cy="1737360"/>
          </a:xfrm>
          <a:prstGeom prst="rect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A2B2A"/>
                </a:solidFill>
                <a:latin typeface="Calibri"/>
              </a:rPr>
              <a:t>Multi-language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61772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Localized for diverse, civic user bases.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862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886200"/>
            <a:ext cx="109728" cy="1737360"/>
          </a:xfrm>
          <a:prstGeom prst="rect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A2B2A"/>
                </a:solidFill>
                <a:latin typeface="Calibri"/>
              </a:rPr>
              <a:t>Accessibility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61772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Designed for inclusive, universal access.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Glide  —  Smart E-Bike Sharing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PRODUCT  ·  OPERATIONS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1A2B2A"/>
                </a:solidFill>
                <a:latin typeface="Calibri"/>
              </a:rPr>
              <a:t>Fleet control for the people who run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304288"/>
            <a:ext cx="502920" cy="502920"/>
          </a:xfrm>
          <a:prstGeom prst="ellipse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2257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945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2B2A"/>
                </a:solidFill>
                <a:latin typeface="Calibri"/>
              </a:rPr>
              <a:t>Live fleet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060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Health, location, and battery across every bike.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675888"/>
            <a:ext cx="502920" cy="502920"/>
          </a:xfrm>
          <a:prstGeom prst="ellipse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9417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661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2B2A"/>
                </a:solidFill>
                <a:latin typeface="Calibri"/>
              </a:rPr>
              <a:t>Geofence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776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Draw service areas and slow-zones visually.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5047488"/>
            <a:ext cx="502920" cy="502920"/>
          </a:xfrm>
          <a:prstGeom prst="ellipse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06577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377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2B2A"/>
                </a:solidFill>
                <a:latin typeface="Calibri"/>
              </a:rPr>
              <a:t>Maintenance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3492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Dispatch, repair tracking, and lifecycle logs.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01168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2304288"/>
            <a:ext cx="502920" cy="502920"/>
          </a:xfrm>
          <a:prstGeom prst="ellipse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32257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1945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2B2A"/>
                </a:solidFill>
                <a:latin typeface="Calibri"/>
              </a:rPr>
              <a:t>Reporting &amp;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6060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Ridership, revenue, and utilization at a glance.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38328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3675888"/>
            <a:ext cx="502920" cy="502920"/>
          </a:xfrm>
          <a:prstGeom prst="ellipse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69417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5661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2B2A"/>
                </a:solidFill>
                <a:latin typeface="Calibri"/>
              </a:rPr>
              <a:t>Sustainability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9776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CO₂ saved and active-trip reporting out of the box.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75488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46520" y="5047488"/>
            <a:ext cx="502920" cy="502920"/>
          </a:xfrm>
          <a:prstGeom prst="ellipse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06577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9377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2B2A"/>
                </a:solidFill>
                <a:latin typeface="Calibri"/>
              </a:rPr>
              <a:t>Role-based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3492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Granular permissions for municipal teams.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Glide  —  Smart E-Bike Sharing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2B881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From curb to curb in four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2834640"/>
          </a:xfrm>
          <a:prstGeom prst="roundRect">
            <a:avLst>
              <a:gd name="adj" fmla="val 6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514600"/>
            <a:ext cx="640080" cy="64008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542032"/>
            <a:ext cx="6400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A2B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Find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8620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C8E6DA"/>
                </a:solidFill>
                <a:latin typeface="Calibri"/>
              </a:rPr>
              <a:t>Open the app to see available e-bikes nearby.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291840"/>
            <a:ext cx="274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2B881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194560"/>
            <a:ext cx="2560320" cy="2834640"/>
          </a:xfrm>
          <a:prstGeom prst="roundRect">
            <a:avLst>
              <a:gd name="adj" fmla="val 6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60" y="2514600"/>
            <a:ext cx="640080" cy="64008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542032"/>
            <a:ext cx="6400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A2B2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3832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88620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C8E6DA"/>
                </a:solidFill>
                <a:latin typeface="Calibri"/>
              </a:rPr>
              <a:t>Scan the QR code or tap to release the bike.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291840"/>
            <a:ext cx="274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2B881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194560"/>
            <a:ext cx="2560320" cy="2834640"/>
          </a:xfrm>
          <a:prstGeom prst="roundRect">
            <a:avLst>
              <a:gd name="adj" fmla="val 6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69480" y="2514600"/>
            <a:ext cx="640080" cy="64008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2542032"/>
            <a:ext cx="6400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A2B2A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832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88620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C8E6DA"/>
                </a:solidFill>
                <a:latin typeface="Calibri"/>
              </a:rPr>
              <a:t>Pedal with electric assist; zones keep it safe.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291840"/>
            <a:ext cx="274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2B881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194560"/>
            <a:ext cx="2560320" cy="2834640"/>
          </a:xfrm>
          <a:prstGeom prst="roundRect">
            <a:avLst>
              <a:gd name="adj" fmla="val 6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0" y="2514600"/>
            <a:ext cx="640080" cy="64008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2542032"/>
            <a:ext cx="6400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A2B2A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3832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88620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C8E6DA"/>
                </a:solidFill>
                <a:latin typeface="Calibri"/>
              </a:rPr>
              <a:t>End the trip in a service area — done.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1A2B2A"/>
                </a:solidFill>
                <a:latin typeface="Calibri"/>
              </a:rPr>
              <a:t>A large, growing, underserved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1A2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$200B+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E6F2ED"/>
                </a:solidFill>
                <a:latin typeface="Calibri"/>
              </a:rPr>
              <a:t>Global shared &amp; micro-mobility by 2030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0312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8892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$45B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749039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E6F2ED"/>
                </a:solidFill>
                <a:latin typeface="Calibri"/>
              </a:rPr>
              <a:t>Municipal &amp; regional e-bike programs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$3–5B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749039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E6F2ED"/>
                </a:solidFill>
                <a:latin typeface="Calibri"/>
              </a:rPr>
              <a:t>Addressable in target public-sector markets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1">
                <a:solidFill>
                  <a:srgbClr val="4A5A58"/>
                </a:solidFill>
                <a:latin typeface="Calibri"/>
              </a:rPr>
              <a:t>Public investment in low-carbon transport is accelerating — and sovereignty requirements favor local platforms.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Glide  —  Smart E-Bike Sharing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1A2B2A"/>
                </a:solidFill>
                <a:latin typeface="Calibri"/>
              </a:rPr>
              <a:t>Multiple revenue streams, civic-friendly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28600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286000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2B2A"/>
                </a:solidFill>
                <a:latin typeface="Calibri"/>
              </a:rPr>
              <a:t>Ridership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788920"/>
            <a:ext cx="3749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Per-trip and per-minute fares from end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29400" y="228600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860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86000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2B2A"/>
                </a:solidFill>
                <a:latin typeface="Calibri"/>
              </a:rPr>
              <a:t>Passes &amp; subscriptions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788920"/>
            <a:ext cx="3749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Daily, monthly, and commuter memberships.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6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406908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6908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069080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2B2A"/>
                </a:solidFill>
                <a:latin typeface="Calibri"/>
              </a:rPr>
              <a:t>Municipal licensing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572000"/>
            <a:ext cx="3749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Platform-as-a-service contracts with cities.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9476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29400" y="406908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06908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069080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2B2A"/>
                </a:solidFill>
                <a:latin typeface="Calibri"/>
              </a:rPr>
              <a:t>Eco-programs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572000"/>
            <a:ext cx="3749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Sponsored rides and carbon-credit partnerships.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Glide  —  Smart E-Bike Sharing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2B881"/>
                </a:solidFill>
                <a:latin typeface="Calibri"/>
              </a:rPr>
              <a:t>WHY GLIDE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Built for sovereignty, not just scale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365760" cy="36576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579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2B2A"/>
                </a:solidFill>
                <a:latin typeface="Calibri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8483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Locally deployable   </a:t>
            </a:r>
            <a:r>
              <a:rPr sz="1500" b="0" i="0">
                <a:solidFill>
                  <a:srgbClr val="C8E6DA"/>
                </a:solidFill>
                <a:latin typeface="Calibri"/>
              </a:rPr>
              <a:t>—  Runs on your infrastructure; no foreign-cloud dependency.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365760" cy="36576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1810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2B2A"/>
                </a:solidFill>
                <a:latin typeface="Calibri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4495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Privacy by design   </a:t>
            </a:r>
            <a:r>
              <a:rPr sz="1500" b="0" i="0">
                <a:solidFill>
                  <a:srgbClr val="C8E6DA"/>
                </a:solidFill>
                <a:latin typeface="Calibri"/>
              </a:rPr>
              <a:t>—  Citizen trip data stays within jurisdiction.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069080"/>
            <a:ext cx="365760" cy="36576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7822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2B2A"/>
                </a:solidFill>
                <a:latin typeface="Calibr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0507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Open standards   </a:t>
            </a:r>
            <a:r>
              <a:rPr sz="1500" b="0" i="0">
                <a:solidFill>
                  <a:srgbClr val="C8E6DA"/>
                </a:solidFill>
                <a:latin typeface="Calibri"/>
              </a:rPr>
              <a:t>—  No proprietary lock-in; integrations stay portable.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029200"/>
            <a:ext cx="365760" cy="36576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3834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2B2A"/>
                </a:solidFill>
                <a:latin typeface="Calibr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96519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Civic-grade controls   </a:t>
            </a:r>
            <a:r>
              <a:rPr sz="1500" b="0" i="0">
                <a:solidFill>
                  <a:srgbClr val="C8E6DA"/>
                </a:solidFill>
                <a:latin typeface="Calibri"/>
              </a:rPr>
              <a:t>—  Roles, audit logs, and reporting for public accountability.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1A2B2A"/>
                </a:solidFill>
                <a:latin typeface="Calibri"/>
              </a:rPr>
              <a:t>A self-hosted, sovereign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9728" cy="155448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A2B2A"/>
                </a:solidFill>
                <a:latin typeface="Calibri"/>
              </a:rPr>
              <a:t>Local-first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Containerized services deploy on private cloud or on-premise hardware you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109728" cy="155448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240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A2B2A"/>
                </a:solidFill>
                <a:latin typeface="Calibri"/>
              </a:rPr>
              <a:t>Relational data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74320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A robust, standards-based database holds the full domain model with enforced integrity.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94760"/>
            <a:ext cx="109728" cy="155448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A2B2A"/>
                </a:solidFill>
                <a:latin typeface="Calibri"/>
              </a:rPr>
              <a:t>Native mobile +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52628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Cross-platform rider app and operations console, built with mainstream open tooling.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9476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794760"/>
            <a:ext cx="109728" cy="155448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023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A2B2A"/>
                </a:solidFill>
                <a:latin typeface="Calibri"/>
              </a:rPr>
              <a:t>API-driven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52628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Clean service contracts let cities extend and integrate without forking the platform.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Glide  —  Smart E-Bike Sharing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DATA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1A2B2A"/>
                </a:solidFill>
                <a:latin typeface="Calibri"/>
              </a:rPr>
              <a:t>Regulatory-ready by construction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395728"/>
            <a:ext cx="548640" cy="54864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14016"/>
            <a:ext cx="548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1284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2B2A"/>
                </a:solidFill>
                <a:latin typeface="Calibri"/>
              </a:rPr>
              <a:t>18-domain data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5176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Covers riders, fleet, trips, billing, geofences, maintenance, and reporting.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40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904488"/>
            <a:ext cx="548640" cy="54864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22776"/>
            <a:ext cx="548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72160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2B2A"/>
                </a:solidFill>
                <a:latin typeface="Calibri"/>
              </a:rPr>
              <a:t>Spatial &amp; telemetry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16052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Trip paths and live positions stored with proper geospatial types.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2395728"/>
            <a:ext cx="548640" cy="54864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414016"/>
            <a:ext cx="548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21284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2B2A"/>
                </a:solidFill>
                <a:latin typeface="Calibri"/>
              </a:rPr>
              <a:t>Audit &amp; access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65176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Row-level security and role policies enforce who sees what.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20440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3904488"/>
            <a:ext cx="548640" cy="54864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922776"/>
            <a:ext cx="548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72160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2B2A"/>
                </a:solidFill>
                <a:latin typeface="Calibri"/>
              </a:rPr>
              <a:t>ESG &amp; engagement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16052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Sustainability and user-engagement aggregates generated in-database.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E8C63"/>
                </a:solidFill>
                <a:latin typeface="Calibri"/>
              </a:rPr>
              <a:t>Compliance (data residency, retention, access logging) is part of the schema — not bolted on later.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Glide  —  Smart E-Bike Sharing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1A2B2A"/>
                </a:solidFill>
                <a:latin typeface="Calibri"/>
              </a:rPr>
              <a:t>From MVP to city-scale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560320" cy="640080"/>
          </a:xfrm>
          <a:prstGeom prst="rect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Core data model and rider/app console complete.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108960"/>
            <a:ext cx="274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E8C63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19456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2194560"/>
            <a:ext cx="2560320" cy="640080"/>
          </a:xfrm>
          <a:prstGeom prst="rect">
            <a:avLst/>
          </a:prstGeom>
          <a:solidFill>
            <a:srgbClr val="DE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240280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2B2A"/>
                </a:solidFill>
                <a:latin typeface="Calibri"/>
              </a:rPr>
              <a:t>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06324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First municipal pilot; rebalancing &amp; geofences.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108960"/>
            <a:ext cx="274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E8C63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9456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194560"/>
            <a:ext cx="2560320" cy="640080"/>
          </a:xfrm>
          <a:prstGeom prst="rect">
            <a:avLst/>
          </a:prstGeom>
          <a:solidFill>
            <a:srgbClr val="DE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240280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2B2A"/>
                </a:solidFill>
                <a:latin typeface="Calibri"/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06324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Multi-city deployment; analytics &amp; ESG reporting.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108960"/>
            <a:ext cx="274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E8C63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19456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2194560"/>
            <a:ext cx="2560320" cy="640080"/>
          </a:xfrm>
          <a:prstGeom prst="rect">
            <a:avLst/>
          </a:prstGeom>
          <a:solidFill>
            <a:srgbClr val="DE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240280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2B2A"/>
                </a:solidFill>
                <a:latin typeface="Calibri"/>
              </a:rPr>
              <a:t>Expand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06324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Open integrations &amp; transit partnerships.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E8C63"/>
                </a:solidFill>
                <a:latin typeface="Calibri"/>
              </a:rPr>
              <a:t>Status: data platform and both client apps are functional; first pilot conversations underway.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Glide  —  Smart E-Bike Sharing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2B881"/>
                </a:solidFill>
                <a:latin typeface="Calibr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Every ride is a step toward cleaner cities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>
                <a:solidFill>
                  <a:srgbClr val="12B881"/>
                </a:solidFill>
                <a:latin typeface="Calibri"/>
              </a:rPr>
              <a:t>CO₂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C8E6DA"/>
                </a:solidFill>
                <a:latin typeface="Calibri"/>
              </a:rPr>
              <a:t>saved per active trip vs. 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3774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>
                <a:solidFill>
                  <a:srgbClr val="12B881"/>
                </a:solidFill>
                <a:latin typeface="Calibri"/>
              </a:rPr>
              <a:t>短途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3832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C8E6DA"/>
                </a:solidFill>
                <a:latin typeface="Calibri"/>
              </a:rPr>
              <a:t>car trips replaced by bike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774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>
                <a:solidFill>
                  <a:srgbClr val="12B881"/>
                </a:solidFill>
                <a:latin typeface="Calibri"/>
              </a:rPr>
              <a:t>Quiet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3832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C8E6DA"/>
                </a:solidFill>
                <a:latin typeface="Calibri"/>
              </a:rPr>
              <a:t>streets with less traffic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6F2ED"/>
                </a:solidFill>
                <a:latin typeface="Calibri"/>
              </a:rPr>
              <a:t>Glide reports sustainability metrics natively — giving cities defensible ESG evidence for funding.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1A2B2A"/>
                </a:solidFill>
                <a:latin typeface="Calibri"/>
              </a:rPr>
              <a:t>Partner with us to mobilize cities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65960" y="23317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2350008"/>
            <a:ext cx="9144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2B2A"/>
                </a:solidFill>
                <a:latin typeface="Calibri"/>
              </a:rPr>
              <a:t>Pilot partners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77639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Municipalities ready to launch a local e-bike program.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38328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23560" y="23317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350008"/>
            <a:ext cx="9144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74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2B2A"/>
                </a:solidFill>
                <a:latin typeface="Calibri"/>
              </a:rPr>
              <a:t>Investment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977639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Seed funding to reach first multi-city commercial deployments.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38328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81160" y="23317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350008"/>
            <a:ext cx="9144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74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2B2A"/>
                </a:solidFill>
                <a:latin typeface="Calibri"/>
              </a:rPr>
              <a:t>Talent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977639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Engineers and policy leads who care about sovereign mobility.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E8C63"/>
                </a:solidFill>
                <a:latin typeface="Calibri"/>
              </a:rPr>
              <a:t>Let's build mobility that stays in the community it serves.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Glide  —  Smart E-Bike Sharing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