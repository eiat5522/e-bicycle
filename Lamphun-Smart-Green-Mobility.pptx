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2011680"/>
            <a:ext cx="5486400" cy="5486400"/>
          </a:xfrm>
          <a:prstGeom prst="ellipse">
            <a:avLst/>
          </a:prstGeom>
          <a:solidFill>
            <a:srgbClr val="0E8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3474720"/>
            <a:ext cx="4114800" cy="4114800"/>
          </a:xfrm>
          <a:prstGeom prst="ellipse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22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2B881"/>
                </a:solidFill>
                <a:latin typeface="Calibri"/>
              </a:rPr>
              <a:t>LAMPHUN SMART GREEN MOBILITY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10789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A Public Green Mobility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Operating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C8E6DA"/>
                </a:solidFill>
                <a:latin typeface="Calibri"/>
              </a:rPr>
              <a:t>Keeping a 100-bike public e-bike service running safely,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C8E6DA"/>
                </a:solidFill>
                <a:latin typeface="Calibri"/>
              </a:rPr>
              <a:t>transparently, and continuously — on infrastructure we control.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943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2B881"/>
                </a:solidFill>
                <a:latin typeface="Calibri"/>
              </a:rPr>
              <a:t>Investor &amp; Stakeholder Briefing  ·  MVP target: 31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502920"/>
            <a:ext cx="164592" cy="457200"/>
          </a:xfrm>
          <a:prstGeom prst="roundRect">
            <a:avLst>
              <a:gd name="adj" fmla="val 8000"/>
            </a:avLst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E8C63"/>
                </a:solidFill>
                <a:latin typeface="Calibri"/>
              </a:rPr>
              <a:t>THE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 i="0">
                <a:solidFill>
                  <a:srgbClr val="142A27"/>
                </a:solidFill>
                <a:latin typeface="Calibri"/>
              </a:rPr>
              <a:t>A public service can't stop when tech fails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65176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3317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95728"/>
            <a:ext cx="640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42A27"/>
                </a:solidFill>
                <a:latin typeface="Calibri"/>
              </a:rPr>
              <a:t>Connectivity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703320"/>
            <a:ext cx="21031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4A5A58"/>
                </a:solidFill>
                <a:latin typeface="Calibri"/>
              </a:rPr>
              <a:t>Stations and tourists hit dead zones; apps and payment gateways drop.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47872" y="2011680"/>
            <a:ext cx="265176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22192" y="23317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22192" y="2395728"/>
            <a:ext cx="640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22192" y="32004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42A27"/>
                </a:solidFill>
                <a:latin typeface="Calibri"/>
              </a:rPr>
              <a:t>Trust &amp; transparency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192" y="3703320"/>
            <a:ext cx="21031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4A5A58"/>
                </a:solidFill>
                <a:latin typeface="Calibri"/>
              </a:rPr>
              <a:t>Government and citizens need verifiable service, financial, and ESG records.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64224" y="2011680"/>
            <a:ext cx="265176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38544" y="23317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38544" y="2395728"/>
            <a:ext cx="640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8544" y="32004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42A27"/>
                </a:solidFill>
                <a:latin typeface="Calibri"/>
              </a:rPr>
              <a:t>Inclusion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38544" y="3703320"/>
            <a:ext cx="21031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4A5A58"/>
                </a:solidFill>
                <a:latin typeface="Calibri"/>
              </a:rPr>
              <a:t>Residents and foreign tourists must both register, pay, and ride without friction.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0576" y="2011680"/>
            <a:ext cx="265176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54896" y="23317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54896" y="2395728"/>
            <a:ext cx="640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54896" y="32004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42A27"/>
                </a:solidFill>
                <a:latin typeface="Calibri"/>
              </a:rPr>
              <a:t>Residency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54896" y="3703320"/>
            <a:ext cx="21031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4A5A58"/>
                </a:solidFill>
                <a:latin typeface="Calibri"/>
              </a:rPr>
              <a:t>Public mobility data must stay on locally controlled, sovereign infrastructure.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4A5A58"/>
                </a:solidFill>
                <a:latin typeface="Calibri"/>
              </a:rPr>
              <a:t>Lamphun Smart Green Mobility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4A5A5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502920"/>
            <a:ext cx="164592" cy="457200"/>
          </a:xfrm>
          <a:prstGeom prst="roundRect">
            <a:avLst>
              <a:gd name="adj" fmla="val 8000"/>
            </a:avLst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2B881"/>
                </a:solidFill>
                <a:latin typeface="Calibri"/>
              </a:rPr>
              <a:t>PRODUCT PROMISE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899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A rider can register, rent, pay, ride, and return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with confidence —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0" i="0">
                <a:solidFill>
                  <a:srgbClr val="C8E6DA"/>
                </a:solidFill>
                <a:latin typeface="Calibri"/>
              </a:rPr>
              <a:t>and the service keeps running even when the app, internet,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0" i="0">
                <a:solidFill>
                  <a:srgbClr val="C8E6DA"/>
                </a:solidFill>
                <a:latin typeface="Calibri"/>
              </a:rPr>
              <a:t>or payment gateway fails.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3200400"/>
            <a:ext cx="310896" cy="310896"/>
          </a:xfrm>
          <a:prstGeom prst="ellipse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3182112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E6F2ED"/>
                </a:solidFill>
                <a:latin typeface="Calibri"/>
              </a:rPr>
              <a:t>Riders: register → rent → pay → ride → return, with bilingual clarity.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4069080"/>
            <a:ext cx="310896" cy="310896"/>
          </a:xfrm>
          <a:prstGeom prst="ellipse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4050792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E6F2ED"/>
                </a:solidFill>
                <a:latin typeface="Calibri"/>
              </a:rPr>
              <a:t>Station staff: start rentals, returns, incidents &amp; payment capture offline.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937760"/>
            <a:ext cx="310896" cy="310896"/>
          </a:xfrm>
          <a:prstGeom prst="ellipse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4919472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E6F2ED"/>
                </a:solidFill>
                <a:latin typeface="Calibri"/>
              </a:rPr>
              <a:t>Operators &amp; government: verify exactly what happened, afterward.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502920"/>
            <a:ext cx="164592" cy="457200"/>
          </a:xfrm>
          <a:prstGeom prst="roundRect">
            <a:avLst>
              <a:gd name="adj" fmla="val 8000"/>
            </a:avLst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E8C63"/>
                </a:solidFill>
                <a:latin typeface="Calibri"/>
              </a:rPr>
              <a:t>HOW WE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 i="0">
                <a:solidFill>
                  <a:srgbClr val="142A27"/>
                </a:solidFill>
                <a:latin typeface="Calibri"/>
              </a:rPr>
              <a:t>Four principles that keep the service alive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39496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109728" cy="1600200"/>
          </a:xfrm>
          <a:prstGeom prst="rect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402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42A27"/>
                </a:solidFill>
                <a:latin typeface="Calibri"/>
              </a:rPr>
              <a:t>Operation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4A5A58"/>
                </a:solidFill>
                <a:latin typeface="Calibri"/>
              </a:rPr>
              <a:t>Every critical journey has a primary digital path AND a staff-assisted offline fallback.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011680"/>
            <a:ext cx="539496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2011680"/>
            <a:ext cx="109728" cy="1600200"/>
          </a:xfrm>
          <a:prstGeom prst="rect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2402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42A27"/>
                </a:solidFill>
                <a:latin typeface="Calibri"/>
              </a:rPr>
              <a:t>Safety Before Convenience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743200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4A5A58"/>
                </a:solidFill>
                <a:latin typeface="Calibri"/>
              </a:rPr>
              <a:t>Vehicle readiness, battery, inspection &amp; incident handling outrank speed or polish.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539496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840480"/>
            <a:ext cx="109728" cy="1600200"/>
          </a:xfrm>
          <a:prstGeom prst="rect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0690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42A27"/>
                </a:solidFill>
                <a:latin typeface="Calibri"/>
              </a:rPr>
              <a:t>Evidence At Every Handoff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572000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4A5A58"/>
                </a:solidFill>
                <a:latin typeface="Calibri"/>
              </a:rPr>
              <a:t>Rental, return, payment, damage &amp; override flows log IDs, actor, time, photo proof.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840480"/>
            <a:ext cx="539496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3840480"/>
            <a:ext cx="109728" cy="1600200"/>
          </a:xfrm>
          <a:prstGeom prst="rect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40690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42A27"/>
                </a:solidFill>
                <a:latin typeface="Calibri"/>
              </a:rPr>
              <a:t>Bilingual &amp; Simple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4572000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4A5A58"/>
                </a:solidFill>
                <a:latin typeface="Calibri"/>
              </a:rPr>
              <a:t>Thai + tourist-ready copy; simple MVP that expands into a full system.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4A5A58"/>
                </a:solidFill>
                <a:latin typeface="Calibri"/>
              </a:rPr>
              <a:t>Lamphun Smart Green Mobility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4A5A5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502920"/>
            <a:ext cx="164592" cy="457200"/>
          </a:xfrm>
          <a:prstGeom prst="roundRect">
            <a:avLst>
              <a:gd name="adj" fmla="val 8000"/>
            </a:avLst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E8C63"/>
                </a:solidFill>
                <a:latin typeface="Calibri"/>
              </a:rPr>
              <a:t>WHO IT SERVES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 i="0">
                <a:solidFill>
                  <a:srgbClr val="142A27"/>
                </a:solidFill>
                <a:latin typeface="Calibri"/>
              </a:rPr>
              <a:t>One system, six roles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109728" cy="1737360"/>
          </a:xfrm>
          <a:prstGeom prst="rect">
            <a:avLst/>
          </a:prstGeom>
          <a:solidFill>
            <a:srgbClr val="0E8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402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42A27"/>
                </a:solidFill>
                <a:latin typeface="Calibri"/>
              </a:rPr>
              <a:t>Tourist rider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4A5A58"/>
                </a:solidFill>
                <a:latin typeface="Calibri"/>
              </a:rPr>
              <a:t>Register fast, understand rules, pay, unlock, return, get help.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011680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2011680"/>
            <a:ext cx="109728" cy="1737360"/>
          </a:xfrm>
          <a:prstGeom prst="rect">
            <a:avLst/>
          </a:prstGeom>
          <a:solidFill>
            <a:srgbClr val="0E8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22402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42A27"/>
                </a:solidFill>
                <a:latin typeface="Calibri"/>
              </a:rPr>
              <a:t>Local resident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74320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4A5A58"/>
                </a:solidFill>
                <a:latin typeface="Calibri"/>
              </a:rPr>
              <a:t>Repeat rental with low friction and clear pricing.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011680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2011680"/>
            <a:ext cx="109728" cy="1737360"/>
          </a:xfrm>
          <a:prstGeom prst="rect">
            <a:avLst/>
          </a:prstGeom>
          <a:solidFill>
            <a:srgbClr val="0E8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22402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42A27"/>
                </a:solidFill>
                <a:latin typeface="Calibri"/>
              </a:rPr>
              <a:t>Station staff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74320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4A5A58"/>
                </a:solidFill>
                <a:latin typeface="Calibri"/>
              </a:rPr>
              <a:t>Start/return rentals, verify payments, inspect, record incidents.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86200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886200"/>
            <a:ext cx="109728" cy="1737360"/>
          </a:xfrm>
          <a:prstGeom prst="rect">
            <a:avLst/>
          </a:prstGeom>
          <a:solidFill>
            <a:srgbClr val="0E8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1148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42A27"/>
                </a:solidFill>
                <a:latin typeface="Calibri"/>
              </a:rPr>
              <a:t>Technician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61772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4A5A58"/>
                </a:solidFill>
                <a:latin typeface="Calibri"/>
              </a:rPr>
              <a:t>Inspect, maintain, swap batteries, track safety status.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886200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3886200"/>
            <a:ext cx="109728" cy="1737360"/>
          </a:xfrm>
          <a:prstGeom prst="rect">
            <a:avLst/>
          </a:prstGeom>
          <a:solidFill>
            <a:srgbClr val="0E8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600" y="41148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42A27"/>
                </a:solidFill>
                <a:latin typeface="Calibri"/>
              </a:rPr>
              <a:t>Operations manager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61772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4A5A58"/>
                </a:solidFill>
                <a:latin typeface="Calibri"/>
              </a:rPr>
              <a:t>Monitor availability, revenue, incidents, reconciliation.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886200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886200"/>
            <a:ext cx="109728" cy="1737360"/>
          </a:xfrm>
          <a:prstGeom prst="rect">
            <a:avLst/>
          </a:prstGeom>
          <a:solidFill>
            <a:srgbClr val="0E8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41148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42A27"/>
                </a:solidFill>
                <a:latin typeface="Calibri"/>
              </a:rPr>
              <a:t>Government viewer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461772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4A5A58"/>
                </a:solidFill>
                <a:latin typeface="Calibri"/>
              </a:rPr>
              <a:t>Transparent service, financial, ESG &amp; audit reporting — read-only.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4A5A58"/>
                </a:solidFill>
                <a:latin typeface="Calibri"/>
              </a:rPr>
              <a:t>Lamphun Smart Green Mobility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4A5A5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502920"/>
            <a:ext cx="164592" cy="457200"/>
          </a:xfrm>
          <a:prstGeom prst="roundRect">
            <a:avLst>
              <a:gd name="adj" fmla="val 8000"/>
            </a:avLst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E8C63"/>
                </a:solidFill>
                <a:latin typeface="Calibri"/>
              </a:rPr>
              <a:t>PRODUCT  ·  RIDER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 i="0">
                <a:solidFill>
                  <a:srgbClr val="142A27"/>
                </a:solidFill>
                <a:latin typeface="Calibri"/>
              </a:rPr>
              <a:t>The mobile app riders already 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2286000"/>
            <a:ext cx="502920" cy="502920"/>
          </a:xfrm>
          <a:prstGeom prst="ellipse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04288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9260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42A27"/>
                </a:solidFill>
                <a:latin typeface="Calibri"/>
              </a:rPr>
              <a:t>Auth &amp;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3375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4A5A58"/>
                </a:solidFill>
                <a:latin typeface="Calibri"/>
              </a:rPr>
              <a:t>Register with PDPA consent and identity capture.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011680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54880" y="2286000"/>
            <a:ext cx="502920" cy="502920"/>
          </a:xfrm>
          <a:prstGeom prst="ellipse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304288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9260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42A27"/>
                </a:solidFill>
                <a:latin typeface="Calibri"/>
              </a:rPr>
              <a:t>Map discovery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3375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4A5A58"/>
                </a:solidFill>
                <a:latin typeface="Calibri"/>
              </a:rPr>
              <a:t>Find nearby bikes, stations, and battery at a glance.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011680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03920" y="2286000"/>
            <a:ext cx="502920" cy="502920"/>
          </a:xfrm>
          <a:prstGeom prst="ellipse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304288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9260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42A27"/>
                </a:solidFill>
                <a:latin typeface="Calibri"/>
              </a:rPr>
              <a:t>Unlock &amp; ride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33375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4A5A58"/>
                </a:solidFill>
                <a:latin typeface="Calibri"/>
              </a:rPr>
              <a:t>Scan or tap to release; active-ride recovery built 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886200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5840" y="4160520"/>
            <a:ext cx="502920" cy="502920"/>
          </a:xfrm>
          <a:prstGeom prst="ellipse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178808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8006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42A27"/>
                </a:solidFill>
                <a:latin typeface="Calibri"/>
              </a:rPr>
              <a:t>Wallet &amp; top-up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2120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4A5A58"/>
                </a:solidFill>
                <a:latin typeface="Calibri"/>
              </a:rPr>
              <a:t>Clear prepaid balance with bilingual clarity.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3886200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754880" y="4160520"/>
            <a:ext cx="502920" cy="502920"/>
          </a:xfrm>
          <a:prstGeom prst="ellipse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0" y="4178808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48006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42A27"/>
                </a:solidFill>
                <a:latin typeface="Calibri"/>
              </a:rPr>
              <a:t>Eco impact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2120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4A5A58"/>
                </a:solidFill>
                <a:latin typeface="Calibri"/>
              </a:rPr>
              <a:t>See the carbon you avoided on every trip.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3886200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503920" y="4160520"/>
            <a:ext cx="502920" cy="502920"/>
          </a:xfrm>
          <a:prstGeom prst="ellipse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4178808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9640" y="48006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42A27"/>
                </a:solidFill>
                <a:latin typeface="Calibri"/>
              </a:rPr>
              <a:t>Support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52120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4A5A58"/>
                </a:solidFill>
                <a:latin typeface="Calibri"/>
              </a:rPr>
              <a:t>Help and incident reporting when something goes wrong.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4A5A58"/>
                </a:solidFill>
                <a:latin typeface="Calibri"/>
              </a:rPr>
              <a:t>Lamphun Smart Green Mobility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4A5A5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502920"/>
            <a:ext cx="164592" cy="457200"/>
          </a:xfrm>
          <a:prstGeom prst="roundRect">
            <a:avLst>
              <a:gd name="adj" fmla="val 8000"/>
            </a:avLst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2B881"/>
                </a:solidFill>
                <a:latin typeface="Calibri"/>
              </a:rPr>
              <a:t>PRODUCT  ·  STATION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offline-first staff tablet keeps service moving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12080" cy="1188720"/>
          </a:xfrm>
          <a:prstGeom prst="roundRect">
            <a:avLst>
              <a:gd name="adj" fmla="val 5000"/>
            </a:avLst>
          </a:prstGeom>
          <a:solidFill>
            <a:srgbClr val="22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304288"/>
            <a:ext cx="502920" cy="502920"/>
          </a:xfrm>
          <a:prstGeom prst="ellipse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22576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9456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Start &amp; return rentals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0604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C8E6DA"/>
                </a:solidFill>
                <a:latin typeface="Calibri"/>
              </a:rPr>
              <a:t>Frictionless staff-assisted rental for riders without the app.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83280"/>
            <a:ext cx="5212080" cy="1188720"/>
          </a:xfrm>
          <a:prstGeom prst="roundRect">
            <a:avLst>
              <a:gd name="adj" fmla="val 5000"/>
            </a:avLst>
          </a:prstGeom>
          <a:solidFill>
            <a:srgbClr val="22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3675888"/>
            <a:ext cx="502920" cy="502920"/>
          </a:xfrm>
          <a:prstGeom prst="ellipse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94176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56616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Verify payments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97764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C8E6DA"/>
                </a:solidFill>
                <a:latin typeface="Calibri"/>
              </a:rPr>
              <a:t>QR / PromptPay / manual slip reference with reconciliation state.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754880"/>
            <a:ext cx="5212080" cy="1188720"/>
          </a:xfrm>
          <a:prstGeom prst="roundRect">
            <a:avLst>
              <a:gd name="adj" fmla="val 5000"/>
            </a:avLst>
          </a:prstGeom>
          <a:solidFill>
            <a:srgbClr val="22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5047488"/>
            <a:ext cx="502920" cy="502920"/>
          </a:xfrm>
          <a:prstGeom prst="ellipse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065776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93776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Record incidents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34924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C8E6DA"/>
                </a:solidFill>
                <a:latin typeface="Calibri"/>
              </a:rPr>
              <a:t>Rental, vehicle, user, status, and photo evidence.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011680"/>
            <a:ext cx="5212080" cy="1188720"/>
          </a:xfrm>
          <a:prstGeom prst="roundRect">
            <a:avLst>
              <a:gd name="adj" fmla="val 5000"/>
            </a:avLst>
          </a:prstGeom>
          <a:solidFill>
            <a:srgbClr val="22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2304288"/>
            <a:ext cx="502920" cy="502920"/>
          </a:xfrm>
          <a:prstGeom prst="ellipse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322576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19456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Manual override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260604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C8E6DA"/>
                </a:solidFill>
                <a:latin typeface="Calibri"/>
              </a:rPr>
              <a:t>Permission-sensitive fallback when systems are down.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383280"/>
            <a:ext cx="5212080" cy="1188720"/>
          </a:xfrm>
          <a:prstGeom prst="roundRect">
            <a:avLst>
              <a:gd name="adj" fmla="val 5000"/>
            </a:avLst>
          </a:prstGeom>
          <a:solidFill>
            <a:srgbClr val="22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3675888"/>
            <a:ext cx="502920" cy="502920"/>
          </a:xfrm>
          <a:prstGeom prst="ellipse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694176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356616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Inspection &amp; battery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397764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C8E6DA"/>
                </a:solidFill>
                <a:latin typeface="Calibri"/>
              </a:rPr>
              <a:t>Pre-use checks, condition, battery level at return.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754880"/>
            <a:ext cx="5212080" cy="1188720"/>
          </a:xfrm>
          <a:prstGeom prst="roundRect">
            <a:avLst>
              <a:gd name="adj" fmla="val 5000"/>
            </a:avLst>
          </a:prstGeom>
          <a:solidFill>
            <a:srgbClr val="22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46520" y="5047488"/>
            <a:ext cx="502920" cy="502920"/>
          </a:xfrm>
          <a:prstGeom prst="ellipse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5065776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493776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Fallback backup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534924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C8E6DA"/>
                </a:solidFill>
                <a:latin typeface="Calibri"/>
              </a:rPr>
              <a:t>Exportable records + spreadsheet backup workflow if cloud is unreachable.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502920"/>
            <a:ext cx="164592" cy="457200"/>
          </a:xfrm>
          <a:prstGeom prst="roundRect">
            <a:avLst>
              <a:gd name="adj" fmla="val 8000"/>
            </a:avLst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E8C63"/>
                </a:solidFill>
                <a:latin typeface="Calibri"/>
              </a:rPr>
              <a:t>PRODUCT  · 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 i="0">
                <a:solidFill>
                  <a:srgbClr val="142A27"/>
                </a:solidFill>
                <a:latin typeface="Calibri"/>
              </a:rPr>
              <a:t>One console for managers and government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109728" cy="1737360"/>
          </a:xfrm>
          <a:prstGeom prst="rect">
            <a:avLst/>
          </a:prstGeom>
          <a:solidFill>
            <a:srgbClr val="0E8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402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42A27"/>
                </a:solidFill>
                <a:latin typeface="Calibri"/>
              </a:rPr>
              <a:t>Dashboard KPIs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4A5A58"/>
                </a:solidFill>
                <a:latin typeface="Calibri"/>
              </a:rPr>
              <a:t>Fleet availability, utilization, revenue, incidents, maintenance.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011680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2011680"/>
            <a:ext cx="109728" cy="1737360"/>
          </a:xfrm>
          <a:prstGeom prst="rect">
            <a:avLst/>
          </a:prstGeom>
          <a:solidFill>
            <a:srgbClr val="0E8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22402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42A27"/>
                </a:solidFill>
                <a:latin typeface="Calibri"/>
              </a:rPr>
              <a:t>Ride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74320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4A5A58"/>
                </a:solidFill>
                <a:latin typeface="Calibri"/>
              </a:rPr>
              <a:t>User, wallet, ride replay, and status-event history.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011680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2011680"/>
            <a:ext cx="109728" cy="1737360"/>
          </a:xfrm>
          <a:prstGeom prst="rect">
            <a:avLst/>
          </a:prstGeom>
          <a:solidFill>
            <a:srgbClr val="0E8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22402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42A27"/>
                </a:solidFill>
                <a:latin typeface="Calibri"/>
              </a:rPr>
              <a:t>Reconciliation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74320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4A5A58"/>
                </a:solidFill>
                <a:latin typeface="Calibri"/>
              </a:rPr>
              <a:t>Digital and manual payments tied to Rental ID, reviewed daily.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86200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886200"/>
            <a:ext cx="109728" cy="1737360"/>
          </a:xfrm>
          <a:prstGeom prst="rect">
            <a:avLst/>
          </a:prstGeom>
          <a:solidFill>
            <a:srgbClr val="0E8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1148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42A27"/>
                </a:solidFill>
                <a:latin typeface="Calibri"/>
              </a:rPr>
              <a:t>Government viewer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61772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4A5A58"/>
                </a:solidFill>
                <a:latin typeface="Calibri"/>
              </a:rPr>
              <a:t>Read-only transparency: service, financial, ESG, audit history.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886200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3886200"/>
            <a:ext cx="109728" cy="1737360"/>
          </a:xfrm>
          <a:prstGeom prst="rect">
            <a:avLst/>
          </a:prstGeom>
          <a:solidFill>
            <a:srgbClr val="0E8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600" y="41148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42A27"/>
                </a:solidFill>
                <a:latin typeface="Calibri"/>
              </a:rPr>
              <a:t>Exports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61772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4A5A58"/>
                </a:solidFill>
                <a:latin typeface="Calibri"/>
              </a:rPr>
              <a:t>CSV/report exports for oversight and daily reconciliation.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886200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886200"/>
            <a:ext cx="109728" cy="1737360"/>
          </a:xfrm>
          <a:prstGeom prst="rect">
            <a:avLst/>
          </a:prstGeom>
          <a:solidFill>
            <a:srgbClr val="0E8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41148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42A27"/>
                </a:solidFill>
                <a:latin typeface="Calibri"/>
              </a:rPr>
              <a:t>Role separation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461772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4A5A58"/>
                </a:solidFill>
                <a:latin typeface="Calibri"/>
              </a:rPr>
              <a:t>Clear operational roles; government viewer cannot mutate data.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4A5A58"/>
                </a:solidFill>
                <a:latin typeface="Calibri"/>
              </a:rPr>
              <a:t>Lamphun Smart Green Mobility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4A5A5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502920"/>
            <a:ext cx="164592" cy="457200"/>
          </a:xfrm>
          <a:prstGeom prst="roundRect">
            <a:avLst>
              <a:gd name="adj" fmla="val 8000"/>
            </a:avLst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E8C63"/>
                </a:solidFill>
                <a:latin typeface="Calibri"/>
              </a:rPr>
              <a:t>THE FLEET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 i="0">
                <a:solidFill>
                  <a:srgbClr val="142A27"/>
                </a:solidFill>
                <a:latin typeface="Calibri"/>
              </a:rPr>
              <a:t>100 FreeDare e-bikes, built for public service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286000"/>
            <a:ext cx="2011680" cy="548640"/>
          </a:xfrm>
          <a:prstGeom prst="roundRect">
            <a:avLst>
              <a:gd name="adj" fmla="val 30000"/>
            </a:avLst>
          </a:prstGeom>
          <a:solidFill>
            <a:srgbClr val="F4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2011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0E8C63"/>
                </a:solidFill>
                <a:latin typeface="Calibri"/>
              </a:rPr>
              <a:t>100 units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01752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4A5A58"/>
                </a:solidFill>
                <a:latin typeface="Calibri"/>
              </a:rPr>
              <a:t>Public fleet across Lamphun at launch.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011680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54880" y="2286000"/>
            <a:ext cx="2011680" cy="548640"/>
          </a:xfrm>
          <a:prstGeom prst="roundRect">
            <a:avLst>
              <a:gd name="adj" fmla="val 30000"/>
            </a:avLst>
          </a:prstGeom>
          <a:solidFill>
            <a:srgbClr val="F4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286000"/>
            <a:ext cx="2011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0E8C63"/>
                </a:solidFill>
                <a:latin typeface="Calibri"/>
              </a:rPr>
              <a:t>48V · 500–750W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01752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4A5A58"/>
                </a:solidFill>
                <a:latin typeface="Calibri"/>
              </a:rPr>
              <a:t>Motor power for hills and payloads.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011680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03920" y="2286000"/>
            <a:ext cx="2011680" cy="548640"/>
          </a:xfrm>
          <a:prstGeom prst="roundRect">
            <a:avLst>
              <a:gd name="adj" fmla="val 30000"/>
            </a:avLst>
          </a:prstGeom>
          <a:solidFill>
            <a:srgbClr val="F4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2286000"/>
            <a:ext cx="2011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0E8C63"/>
                </a:solidFill>
                <a:latin typeface="Calibri"/>
              </a:rPr>
              <a:t>Li-ion 20Ah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301752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4A5A58"/>
                </a:solidFill>
                <a:latin typeface="Calibri"/>
              </a:rPr>
              <a:t>Removable battery for swap-and-go ops.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86200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05840" y="4160520"/>
            <a:ext cx="2011680" cy="548640"/>
          </a:xfrm>
          <a:prstGeom prst="roundRect">
            <a:avLst>
              <a:gd name="adj" fmla="val 30000"/>
            </a:avLst>
          </a:prstGeom>
          <a:solidFill>
            <a:srgbClr val="F4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160520"/>
            <a:ext cx="2011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0E8C63"/>
                </a:solidFill>
                <a:latin typeface="Calibri"/>
              </a:rPr>
              <a:t>IPX5 rated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89204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4A5A58"/>
                </a:solidFill>
                <a:latin typeface="Calibri"/>
              </a:rPr>
              <a:t>Weather-resistant for daily outdoor use.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886200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754880" y="4160520"/>
            <a:ext cx="2011680" cy="548640"/>
          </a:xfrm>
          <a:prstGeom prst="roundRect">
            <a:avLst>
              <a:gd name="adj" fmla="val 30000"/>
            </a:avLst>
          </a:prstGeom>
          <a:solidFill>
            <a:srgbClr val="F4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4160520"/>
            <a:ext cx="2011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0E8C63"/>
                </a:solidFill>
                <a:latin typeface="Calibri"/>
              </a:rPr>
              <a:t>60–120 km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89204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4A5A58"/>
                </a:solidFill>
                <a:latin typeface="Calibri"/>
              </a:rPr>
              <a:t>Assisted range per charge.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886200"/>
            <a:ext cx="35661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503920" y="4160520"/>
            <a:ext cx="2011680" cy="548640"/>
          </a:xfrm>
          <a:prstGeom prst="roundRect">
            <a:avLst>
              <a:gd name="adj" fmla="val 30000"/>
            </a:avLst>
          </a:prstGeom>
          <a:solidFill>
            <a:srgbClr val="F4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4160520"/>
            <a:ext cx="2011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0E8C63"/>
                </a:solidFill>
                <a:latin typeface="Calibri"/>
              </a:rPr>
              <a:t>IoT / GPS lock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489204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4A5A58"/>
                </a:solidFill>
                <a:latin typeface="Calibri"/>
              </a:rPr>
              <a:t>Smart lock &amp; tracking where supported.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4A5A58"/>
                </a:solidFill>
                <a:latin typeface="Calibri"/>
              </a:rPr>
              <a:t>Lamphun Smart Green Mobility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4A5A5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502920"/>
            <a:ext cx="164592" cy="457200"/>
          </a:xfrm>
          <a:prstGeom prst="roundRect">
            <a:avLst>
              <a:gd name="adj" fmla="val 8000"/>
            </a:avLst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2B881"/>
                </a:solidFill>
                <a:latin typeface="Calibri"/>
              </a:rPr>
              <a:t>LAUNCH FOOTPRINT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Three stations to start, in Lamphun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3383280" cy="2743200"/>
          </a:xfrm>
          <a:prstGeom prst="roundRect">
            <a:avLst>
              <a:gd name="adj" fmla="val 6000"/>
            </a:avLst>
          </a:prstGeom>
          <a:solidFill>
            <a:srgbClr val="22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57400" y="2560320"/>
            <a:ext cx="731520" cy="731520"/>
          </a:xfrm>
          <a:prstGeom prst="ellipse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57400" y="2578608"/>
            <a:ext cx="7315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42A27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52044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Lamphun Tourism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29768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C8E6DA"/>
                </a:solidFill>
                <a:latin typeface="Calibri"/>
              </a:rPr>
              <a:t>Visitor-facing hub for tourists and locals.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94560"/>
            <a:ext cx="3383280" cy="2743200"/>
          </a:xfrm>
          <a:prstGeom prst="roundRect">
            <a:avLst>
              <a:gd name="adj" fmla="val 6000"/>
            </a:avLst>
          </a:prstGeom>
          <a:solidFill>
            <a:srgbClr val="22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15000" y="2560320"/>
            <a:ext cx="731520" cy="731520"/>
          </a:xfrm>
          <a:prstGeom prst="ellipse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0" y="2578608"/>
            <a:ext cx="7315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42A27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52044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Lamphun Railway Station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29768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C8E6DA"/>
                </a:solidFill>
                <a:latin typeface="Calibri"/>
              </a:rPr>
              <a:t>First/last-mile link to regional rail.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194560"/>
            <a:ext cx="3383280" cy="2743200"/>
          </a:xfrm>
          <a:prstGeom prst="roundRect">
            <a:avLst>
              <a:gd name="adj" fmla="val 6000"/>
            </a:avLst>
          </a:prstGeom>
          <a:solidFill>
            <a:srgbClr val="22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72600" y="2560320"/>
            <a:ext cx="731520" cy="731520"/>
          </a:xfrm>
          <a:prstGeom prst="ellipse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2578608"/>
            <a:ext cx="7315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42A27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52044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Storage &amp; Operations Center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29768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C8E6DA"/>
                </a:solidFill>
                <a:latin typeface="Calibri"/>
              </a:rPr>
              <a:t>Charging, maintenance, and fleet base.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502920"/>
            <a:ext cx="164592" cy="457200"/>
          </a:xfrm>
          <a:prstGeom prst="roundRect">
            <a:avLst>
              <a:gd name="adj" fmla="val 8000"/>
            </a:avLst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E8C63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 i="0">
                <a:solidFill>
                  <a:srgbClr val="142A27"/>
                </a:solidFill>
                <a:latin typeface="Calibri"/>
              </a:rPr>
              <a:t>Simple MVP, expandable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1208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5212080" cy="594360"/>
          </a:xfrm>
          <a:prstGeom prst="rect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29968"/>
            <a:ext cx="5212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MVP — ready for launch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E8C63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4A5A58"/>
                </a:solidFill>
                <a:latin typeface="Calibri"/>
              </a:rPr>
              <a:t>Offline-first staff tablet at stations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918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E8C63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4A5A58"/>
                </a:solidFill>
                <a:latin typeface="Calibri"/>
              </a:rPr>
              <a:t>Registration with PDPA consent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947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E8C63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4A5A58"/>
                </a:solidFill>
                <a:latin typeface="Calibri"/>
              </a:rPr>
              <a:t>Staff-assisted rental &amp; return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976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E8C63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4A5A58"/>
                </a:solidFill>
                <a:latin typeface="Calibri"/>
              </a:rPr>
              <a:t>QR / PromptPay / manual slip reconciliation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8006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E8C63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4A5A58"/>
                </a:solidFill>
                <a:latin typeface="Calibri"/>
              </a:rPr>
              <a:t>Incident records with photo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035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E8C63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4A5A58"/>
                </a:solidFill>
                <a:latin typeface="Calibri"/>
              </a:rPr>
              <a:t>Dashboard, exports, SOP support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011680"/>
            <a:ext cx="521208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011680"/>
            <a:ext cx="5212080" cy="594360"/>
          </a:xfrm>
          <a:prstGeom prst="rect">
            <a:avLst/>
          </a:prstGeom>
          <a:solidFill>
            <a:srgbClr val="4A5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029968"/>
            <a:ext cx="5212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Phase 2+ — once stable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7889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4A5A58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4A5A58"/>
                </a:solidFill>
                <a:latin typeface="Calibri"/>
              </a:rPr>
              <a:t>Live GPS trip map &amp; geofencing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2918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4A5A58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4A5A58"/>
                </a:solidFill>
                <a:latin typeface="Calibri"/>
              </a:rPr>
              <a:t>Smart-lock integration beyond mobile assist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7947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4A5A58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4A5A58"/>
                </a:solidFill>
                <a:latin typeface="Calibri"/>
              </a:rPr>
              <a:t>Real-time battery &amp; charger telemetry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2976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4A5A58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4A5A58"/>
                </a:solidFill>
                <a:latin typeface="Calibri"/>
              </a:rPr>
              <a:t>Green Passport, tourism &amp; merchant rewards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8006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4A5A58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4A5A58"/>
                </a:solidFill>
                <a:latin typeface="Calibri"/>
              </a:rPr>
              <a:t>Predictive maintenance &amp; dynamic pricing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3035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4A5A58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4A5A58"/>
                </a:solidFill>
                <a:latin typeface="Calibri"/>
              </a:rPr>
              <a:t>Carbon-credit-grade ESG reporting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4A5A58"/>
                </a:solidFill>
                <a:latin typeface="Calibri"/>
              </a:rPr>
              <a:t>Lamphun Smart Green Mobility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4A5A5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502920"/>
            <a:ext cx="164592" cy="457200"/>
          </a:xfrm>
          <a:prstGeom prst="roundRect">
            <a:avLst>
              <a:gd name="adj" fmla="val 8000"/>
            </a:avLst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E8C63"/>
                </a:solidFill>
                <a:latin typeface="Calibri"/>
              </a:rPr>
              <a:t>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 i="0">
                <a:solidFill>
                  <a:srgbClr val="142A27"/>
                </a:solidFill>
                <a:latin typeface="Calibri"/>
              </a:rPr>
              <a:t>Self-hosted, sovereign by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39496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109728" cy="1554480"/>
          </a:xfrm>
          <a:prstGeom prst="rect">
            <a:avLst/>
          </a:prstGeom>
          <a:solidFill>
            <a:srgbClr val="0E8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402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42A27"/>
                </a:solidFill>
                <a:latin typeface="Calibri"/>
              </a:rPr>
              <a:t>Local-first deployment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4846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4A5A58"/>
                </a:solidFill>
                <a:latin typeface="Calibri"/>
              </a:rPr>
              <a:t>Containerized services run on private cloud or on-premise hardware you control.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011680"/>
            <a:ext cx="539496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2011680"/>
            <a:ext cx="109728" cy="1554480"/>
          </a:xfrm>
          <a:prstGeom prst="rect">
            <a:avLst/>
          </a:prstGeom>
          <a:solidFill>
            <a:srgbClr val="0E8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2402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42A27"/>
                </a:solidFill>
                <a:latin typeface="Calibri"/>
              </a:rPr>
              <a:t>Relational data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743200"/>
            <a:ext cx="4846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4A5A58"/>
                </a:solidFill>
                <a:latin typeface="Calibri"/>
              </a:rPr>
              <a:t>A robust, standards-based database holds the full domain model with enforced integrity.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94760"/>
            <a:ext cx="539496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94760"/>
            <a:ext cx="109728" cy="1554480"/>
          </a:xfrm>
          <a:prstGeom prst="rect">
            <a:avLst/>
          </a:prstGeom>
          <a:solidFill>
            <a:srgbClr val="0E8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02336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42A27"/>
                </a:solidFill>
                <a:latin typeface="Calibri"/>
              </a:rPr>
              <a:t>Native mobile + web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526280"/>
            <a:ext cx="4846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4A5A58"/>
                </a:solidFill>
                <a:latin typeface="Calibri"/>
              </a:rPr>
              <a:t>Cross-platform rider app, offline station tablet, and operations console.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794760"/>
            <a:ext cx="539496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3794760"/>
            <a:ext cx="109728" cy="1554480"/>
          </a:xfrm>
          <a:prstGeom prst="rect">
            <a:avLst/>
          </a:prstGeom>
          <a:solidFill>
            <a:srgbClr val="0E8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402336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42A27"/>
                </a:solidFill>
                <a:latin typeface="Calibri"/>
              </a:rPr>
              <a:t>API-driven &amp; open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4526280"/>
            <a:ext cx="4846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4A5A58"/>
                </a:solidFill>
                <a:latin typeface="Calibri"/>
              </a:rPr>
              <a:t>Clean service contracts let the city extend and integrate without lock-in.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4A5A58"/>
                </a:solidFill>
                <a:latin typeface="Calibri"/>
              </a:rPr>
              <a:t>Lamphun Smart Green Mobility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4A5A5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502920"/>
            <a:ext cx="164592" cy="457200"/>
          </a:xfrm>
          <a:prstGeom prst="roundRect">
            <a:avLst>
              <a:gd name="adj" fmla="val 8000"/>
            </a:avLst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E8C63"/>
                </a:solidFill>
                <a:latin typeface="Calibri"/>
              </a:rPr>
              <a:t>TRUST &amp;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 i="0">
                <a:solidFill>
                  <a:srgbClr val="142A27"/>
                </a:solidFill>
                <a:latin typeface="Calibri"/>
              </a:rPr>
              <a:t>Evidence at every handoff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1208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395728"/>
            <a:ext cx="548640" cy="548640"/>
          </a:xfrm>
          <a:prstGeom prst="ellipse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414016"/>
            <a:ext cx="5486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12848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42A27"/>
                </a:solidFill>
                <a:latin typeface="Calibri"/>
              </a:rPr>
              <a:t>Full audit trail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651760"/>
            <a:ext cx="4023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4A5A58"/>
                </a:solidFill>
                <a:latin typeface="Calibri"/>
              </a:rPr>
              <a:t>Rental, return, payment, damage &amp; override log IDs, actor, time, station.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20440"/>
            <a:ext cx="521208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3904488"/>
            <a:ext cx="548640" cy="548640"/>
          </a:xfrm>
          <a:prstGeom prst="ellipse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922776"/>
            <a:ext cx="5486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721608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42A27"/>
                </a:solidFill>
                <a:latin typeface="Calibri"/>
              </a:rPr>
              <a:t>Access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160520"/>
            <a:ext cx="4023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4A5A58"/>
                </a:solidFill>
                <a:latin typeface="Calibri"/>
              </a:rPr>
              <a:t>Role-based permissions; government viewer is strictly read-only.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011680"/>
            <a:ext cx="521208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2395728"/>
            <a:ext cx="548640" cy="548640"/>
          </a:xfrm>
          <a:prstGeom prst="ellipse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414016"/>
            <a:ext cx="5486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212848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42A27"/>
                </a:solidFill>
                <a:latin typeface="Calibri"/>
              </a:rPr>
              <a:t>Data residency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651760"/>
            <a:ext cx="4023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4A5A58"/>
                </a:solidFill>
                <a:latin typeface="Calibri"/>
              </a:rPr>
              <a:t>Citizen &amp; trip data stays on locally controlled infrastructure.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520440"/>
            <a:ext cx="521208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3904488"/>
            <a:ext cx="548640" cy="548640"/>
          </a:xfrm>
          <a:prstGeom prst="ellipse">
            <a:avLst/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922776"/>
            <a:ext cx="5486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3721608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42A27"/>
                </a:solidFill>
                <a:latin typeface="Calibri"/>
              </a:rPr>
              <a:t>PDPA-ready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4160520"/>
            <a:ext cx="4023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4A5A58"/>
                </a:solidFill>
                <a:latin typeface="Calibri"/>
              </a:rPr>
              <a:t>Consent capture and identity handling built into registration.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66928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0E8C63"/>
                </a:solidFill>
                <a:latin typeface="Calibri"/>
              </a:rPr>
              <a:t>Compliance and transparency are part of the data model — not bolted on later.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4A5A58"/>
                </a:solidFill>
                <a:latin typeface="Calibri"/>
              </a:rPr>
              <a:t>Lamphun Smart Green Mobility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4A5A5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502920"/>
            <a:ext cx="164592" cy="457200"/>
          </a:xfrm>
          <a:prstGeom prst="roundRect">
            <a:avLst>
              <a:gd name="adj" fmla="val 8000"/>
            </a:avLst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2B881"/>
                </a:solidFill>
                <a:latin typeface="Calibri"/>
              </a:rPr>
              <a:t>HOW WE MEASURE SUCCESS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Targets we hold the MVP 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566160" cy="1645920"/>
          </a:xfrm>
          <a:prstGeom prst="roundRect">
            <a:avLst>
              <a:gd name="adj" fmla="val 6000"/>
            </a:avLst>
          </a:prstGeom>
          <a:solidFill>
            <a:srgbClr val="22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12B881"/>
                </a:solidFill>
                <a:latin typeface="Calibri"/>
              </a:rPr>
              <a:t>90%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88920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E6F2ED"/>
                </a:solidFill>
                <a:latin typeface="Calibri"/>
              </a:rPr>
              <a:t>fleet available or explainable by maintenance/charging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011680"/>
            <a:ext cx="3566160" cy="1645920"/>
          </a:xfrm>
          <a:prstGeom prst="roundRect">
            <a:avLst>
              <a:gd name="adj" fmla="val 6000"/>
            </a:avLst>
          </a:prstGeom>
          <a:solidFill>
            <a:srgbClr val="22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19456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12B881"/>
                </a:solidFill>
                <a:latin typeface="Calibri"/>
              </a:rPr>
              <a:t>Backup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788920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E6F2ED"/>
                </a:solidFill>
                <a:latin typeface="Calibri"/>
              </a:rPr>
              <a:t>mode can start, return &amp; reconcile without stopping 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011680"/>
            <a:ext cx="3566160" cy="1645920"/>
          </a:xfrm>
          <a:prstGeom prst="roundRect">
            <a:avLst>
              <a:gd name="adj" fmla="val 6000"/>
            </a:avLst>
          </a:prstGeom>
          <a:solidFill>
            <a:srgbClr val="22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19456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12B881"/>
                </a:solidFill>
                <a:latin typeface="Calibri"/>
              </a:rPr>
              <a:t>Payment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788920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E6F2ED"/>
                </a:solidFill>
                <a:latin typeface="Calibri"/>
              </a:rPr>
              <a:t>integrity: every payment links to a Rental ID, daily reconciliation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3566160" cy="1645920"/>
          </a:xfrm>
          <a:prstGeom prst="roundRect">
            <a:avLst>
              <a:gd name="adj" fmla="val 6000"/>
            </a:avLst>
          </a:prstGeom>
          <a:solidFill>
            <a:srgbClr val="22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2336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12B881"/>
                </a:solidFill>
                <a:latin typeface="Calibri"/>
              </a:rPr>
              <a:t>Safety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617720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E6F2ED"/>
                </a:solidFill>
                <a:latin typeface="Calibri"/>
              </a:rPr>
              <a:t>lock: pending-inspection &amp; maintenance bikes cannot be rented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3840480"/>
            <a:ext cx="3566160" cy="1645920"/>
          </a:xfrm>
          <a:prstGeom prst="roundRect">
            <a:avLst>
              <a:gd name="adj" fmla="val 6000"/>
            </a:avLst>
          </a:prstGeom>
          <a:solidFill>
            <a:srgbClr val="22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402336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12B881"/>
                </a:solidFill>
                <a:latin typeface="Calibri"/>
              </a:rPr>
              <a:t>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617720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E6F2ED"/>
                </a:solidFill>
                <a:latin typeface="Calibri"/>
              </a:rPr>
              <a:t>quality: required rental/return/payment/incident fields complete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3840480"/>
            <a:ext cx="3566160" cy="1645920"/>
          </a:xfrm>
          <a:prstGeom prst="roundRect">
            <a:avLst>
              <a:gd name="adj" fmla="val 6000"/>
            </a:avLst>
          </a:prstGeom>
          <a:solidFill>
            <a:srgbClr val="22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402336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12B881"/>
                </a:solidFill>
                <a:latin typeface="Calibri"/>
              </a:rPr>
              <a:t>Transparency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617720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E6F2ED"/>
                </a:solidFill>
                <a:latin typeface="Calibri"/>
              </a:rPr>
              <a:t>reports expose utilization, revenue, incidents, carbon, audit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502920"/>
            <a:ext cx="164592" cy="457200"/>
          </a:xfrm>
          <a:prstGeom prst="roundRect">
            <a:avLst>
              <a:gd name="adj" fmla="val 8000"/>
            </a:avLst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E8C63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 i="0">
                <a:solidFill>
                  <a:srgbClr val="142A27"/>
                </a:solidFill>
                <a:latin typeface="Calibri"/>
              </a:rPr>
              <a:t>Partner with us to mobilize Lamphun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65960" y="233172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2350008"/>
            <a:ext cx="91440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42A27"/>
                </a:solidFill>
                <a:latin typeface="Calibri"/>
              </a:rPr>
              <a:t>Pilot partners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977639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4A5A58"/>
                </a:solidFill>
                <a:latin typeface="Calibri"/>
              </a:rPr>
              <a:t>Lamphun stations &amp; agencies ready to launch a local e-bike program.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011680"/>
            <a:ext cx="338328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23560" y="233172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0" y="2350008"/>
            <a:ext cx="91440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47472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42A27"/>
                </a:solidFill>
                <a:latin typeface="Calibri"/>
              </a:rPr>
              <a:t>Investment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977639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4A5A58"/>
                </a:solidFill>
                <a:latin typeface="Calibri"/>
              </a:rPr>
              <a:t>Funding to reach the 31 Oct 2026 MVP and first stable operations.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011680"/>
            <a:ext cx="338328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81160" y="233172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12B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2350008"/>
            <a:ext cx="91440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47472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42A27"/>
                </a:solidFill>
                <a:latin typeface="Calibri"/>
              </a:rPr>
              <a:t>Talent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977639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4A5A58"/>
                </a:solidFill>
                <a:latin typeface="Calibri"/>
              </a:rPr>
              <a:t>Engineers and policy leads who care about sovereign public mobility.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02920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0E8C63"/>
                </a:solidFill>
                <a:latin typeface="Calibri"/>
              </a:rPr>
              <a:t>Let's build mobility that stays in the community it serves.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4A5A58"/>
                </a:solidFill>
                <a:latin typeface="Calibri"/>
              </a:rPr>
              <a:t>Lamphun Smart Green Mobility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4A5A5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