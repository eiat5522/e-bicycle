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2293403e4e47af" /><Relationship Type="http://schemas.openxmlformats.org/officeDocument/2006/relationships/extended-properties" Target="/docProps/app.xml" Id="R60fe58965f454304" /><Relationship Type="http://schemas.openxmlformats.org/officeDocument/2006/relationships/officeDocument" Target="/ppt/presentation.xml" Id="R3421bc20e6ab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625f2a4ed47e4"/>
  </p:sldMasterIdLst>
  <p:notesMasterIdLst>
    <p:notesMasterId xmlns:r="http://schemas.openxmlformats.org/officeDocument/2006/relationships" r:id="R3c8d80edbc084fe3"/>
  </p:notesMasterIdLst>
  <p:sldIdLst>
    <p:sldId xmlns:r="http://schemas.openxmlformats.org/officeDocument/2006/relationships" id="256" r:id="R39a2d64756784535"/>
    <p:sldId xmlns:r="http://schemas.openxmlformats.org/officeDocument/2006/relationships" id="257" r:id="Ra3180cd3518d4694"/>
    <p:sldId xmlns:r="http://schemas.openxmlformats.org/officeDocument/2006/relationships" id="258" r:id="Reaa80ff51e4c4beb"/>
    <p:sldId xmlns:r="http://schemas.openxmlformats.org/officeDocument/2006/relationships" id="259" r:id="R59d2504f562d4705"/>
    <p:sldId xmlns:r="http://schemas.openxmlformats.org/officeDocument/2006/relationships" id="260" r:id="R7dd6d8ab10c14a6f"/>
    <p:sldId xmlns:r="http://schemas.openxmlformats.org/officeDocument/2006/relationships" id="261" r:id="R6ae7a51508174636"/>
    <p:sldId xmlns:r="http://schemas.openxmlformats.org/officeDocument/2006/relationships" id="262" r:id="R6d4f648d032949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52e70ffa146af" /><Relationship Type="http://schemas.openxmlformats.org/officeDocument/2006/relationships/slideMaster" Target="/ppt/slideMasters/slideMaster1.xml" Id="Rb48625f2a4ed47e4" /><Relationship Type="http://schemas.openxmlformats.org/officeDocument/2006/relationships/notesMaster" Target="/ppt/notesMasters/notesMaster1.xml" Id="R3c8d80edbc084fe3" /><Relationship Type="http://schemas.openxmlformats.org/officeDocument/2006/relationships/presProps" Target="/ppt/presProps.xml" Id="Re6d3f47368144b7c" /><Relationship Type="http://schemas.openxmlformats.org/officeDocument/2006/relationships/tableStyles" Target="/ppt/tableStyles.xml" Id="R34f2860e216f4c3b" /><Relationship Type="http://schemas.openxmlformats.org/officeDocument/2006/relationships/slide" Target="/ppt/slides/slide1.xml" Id="R39a2d64756784535" /><Relationship Type="http://schemas.openxmlformats.org/officeDocument/2006/relationships/slide" Target="/ppt/slides/slide2.xml" Id="Ra3180cd3518d4694" /><Relationship Type="http://schemas.openxmlformats.org/officeDocument/2006/relationships/slide" Target="/ppt/slides/slide3.xml" Id="Reaa80ff51e4c4beb" /><Relationship Type="http://schemas.openxmlformats.org/officeDocument/2006/relationships/slide" Target="/ppt/slides/slide4.xml" Id="R59d2504f562d4705" /><Relationship Type="http://schemas.openxmlformats.org/officeDocument/2006/relationships/slide" Target="/ppt/slides/slide5.xml" Id="R7dd6d8ab10c14a6f" /><Relationship Type="http://schemas.openxmlformats.org/officeDocument/2006/relationships/slide" Target="/ppt/slides/slide6.xml" Id="R6ae7a51508174636" /><Relationship Type="http://schemas.openxmlformats.org/officeDocument/2006/relationships/slide" Target="/ppt/slides/slide7.xml" Id="R6d4f648d0329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42635f8a94b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0722651be4858" /><Relationship Type="http://schemas.openxmlformats.org/officeDocument/2006/relationships/notesMaster" Target="/ppt/notesMasters/notesMaster1.xml" Id="Rde5b3bd335ef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6f0dc16d2f47d3" /><Relationship Type="http://schemas.openxmlformats.org/officeDocument/2006/relationships/notesMaster" Target="/ppt/notesMasters/notesMaster1.xml" Id="R59983139880949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ff3ec607634e59" /><Relationship Type="http://schemas.openxmlformats.org/officeDocument/2006/relationships/notesMaster" Target="/ppt/notesMasters/notesMaster1.xml" Id="R43475fca39d44c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39deb9f5e47c8" /><Relationship Type="http://schemas.openxmlformats.org/officeDocument/2006/relationships/notesMaster" Target="/ppt/notesMasters/notesMaster1.xml" Id="Rc2106fe6c1664c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5427c31c94108" /><Relationship Type="http://schemas.openxmlformats.org/officeDocument/2006/relationships/notesMaster" Target="/ppt/notesMasters/notesMaster1.xml" Id="Rc045566739b24e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9645bcc1f74c77" /><Relationship Type="http://schemas.openxmlformats.org/officeDocument/2006/relationships/notesMaster" Target="/ppt/notesMasters/notesMaster1.xml" Id="R5e3f2fcddd4e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cec8636498427d" /><Relationship Type="http://schemas.openxmlformats.org/officeDocument/2006/relationships/notesMaster" Target="/ppt/notesMasters/notesMaster1.xml" Id="Rafd0cbffd2234b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ff89e0c8e4c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1dce600ed4d01" /><Relationship Type="http://schemas.openxmlformats.org/officeDocument/2006/relationships/slideLayout" Target="/ppt/slideLayouts/slideLayout1.xml" Id="Re25fb61775a147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5fb61775a147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7383c8ca14593" /><Relationship Type="http://schemas.openxmlformats.org/officeDocument/2006/relationships/notesSlide" Target="/ppt/notesSlides/notesSlide1.xml" Id="Ra9119f20f1fe44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f0476391e4a4a" /><Relationship Type="http://schemas.openxmlformats.org/officeDocument/2006/relationships/notesSlide" Target="/ppt/notesSlides/notesSlide2.xml" Id="Rca20454474e743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be14b7584a3b" /><Relationship Type="http://schemas.openxmlformats.org/officeDocument/2006/relationships/notesSlide" Target="/ppt/notesSlides/notesSlide3.xml" Id="Rb81481ac3008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72ad0f85c41aa" /><Relationship Type="http://schemas.openxmlformats.org/officeDocument/2006/relationships/notesSlide" Target="/ppt/notesSlides/notesSlide4.xml" Id="Rd8bd571cac02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00ffb2e84a10" /><Relationship Type="http://schemas.openxmlformats.org/officeDocument/2006/relationships/notesSlide" Target="/ppt/notesSlides/notesSlide5.xml" Id="R0aeb77945551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50130314f412f" /><Relationship Type="http://schemas.openxmlformats.org/officeDocument/2006/relationships/notesSlide" Target="/ppt/notesSlides/notesSlide6.xml" Id="R0f31da91905a4d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9a47e8c854f8a" /><Relationship Type="http://schemas.openxmlformats.org/officeDocument/2006/relationships/notesSlide" Target="/ppt/notesSlides/notesSlide7.xml" Id="Rddb545b2ae8a46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16FA2-B9AD-4302-9F4E-3C1B318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E2E90-352E-42AB-96B0-C8F3885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0F172A"/>
                </a:solidFill>
              </a:defRPr>
            </a:pPr>
            <a:r>
              <a:rPr sz="2325">
                <a:solidFill>
                  <a:srgbClr val="0F172A"/>
                </a:solidFill>
              </a:rPr>
              <a:t>Phase 1 and Phase 2 Delivery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5E1D3-E9AE-441F-9F18-425340A0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1A3FF-B2BD-4C74-BA92-5F9ED1A1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</a:defRPr>
            </a:pPr>
            <a:r>
              <a:rPr sz="1800">
                <a:solidFill>
                  <a:srgbClr val="555555"/>
                </a:solidFill>
              </a:rPr>
              <a:t>Phase 1 focuses on public launch readiness by 30 September 2026. Phase 2 adds customer, tourism, connected-fleet, dashboard, API, and optimization enhancements through March 2027.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5609A-2F2F-4C72-B9B5-89A8309E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04850"/>
            <a:ext cx="2762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659A7-E3F1-479C-B642-7294B50B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04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Operating 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33699-25ED-477F-8718-CC531CDF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219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Operation First</a:t>
            </a:r>
          </a:p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App Ready</a:t>
            </a:r>
          </a:p>
          <a:p xmlns:a="http://schemas.openxmlformats.org/drawingml/2006/main">
            <a:pPr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No Single Point of 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F6A3E-90D0-4501-BEB2-0CD55A29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01</a:t>
            </a:r>
          </a:p>
        </p:txBody>
      </p:sp>
    </p:spTree>
    <p:extLst>
      <p:ext uri="{BB962C8B-B14F-4D97-AF65-F5344CB8AC3E}">
        <p14:creationId xmlns:p14="http://schemas.microsoft.com/office/powerpoint/2010/main" val="13331671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FC711-D094-456E-B963-63C056AD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F6862-7041-45CB-9A0A-A9C3520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Two-phase delivery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DCD2-5027-4495-B27F-8CBAAF2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72AB1-DA54-4F4E-A4C2-37CA369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947BC-5AE0-4CC1-B95B-9FCE1410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Phase 1 - Must-have launch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52E49-8BBF-41D1-9AAB-82B7382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29 June-30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68127-E529-4438-8B84-61472395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Deliver the operational platform required to run 100 e-bikes with staff workflows, payment references, maintenance controls, reports, carbon estimates, and tested backup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C0A48-2306-48D6-BE71-69334211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B2FF1-3DCC-4AB5-AAB8-6E18575D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573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Phase 2 - Enhancements + 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4BE99-5B8B-450E-8E27-64E155D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1 October 2026-31 March 2027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53934-34E7-4B81-855D-3F629129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172A"/>
                </a:solidFill>
              </a:defRPr>
            </a:pPr>
            <a:r>
              <a:rPr sz="1725">
                <a:solidFill>
                  <a:srgbClr val="0F172A"/>
                </a:solidFill>
              </a:rPr>
              <a:t>Use live operating data to improve customer experience, integrate connected fleet data, expand tourism programs, build deeper dashboards, and introduce optimization support.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DD15A-74E2-478F-B3B1-831E509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01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FE778-3CDE-42CE-B67A-9FA4037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Gate between phases: Phase 2 should start only after rental, return, payment, maintenance, battery, incident, report, and fallback workflows are stable in live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879F8-60E3-40B9-B93A-F2E62177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02</a:t>
            </a:r>
          </a:p>
        </p:txBody>
      </p:sp>
    </p:spTree>
    <p:extLst>
      <p:ext uri="{BB962C8B-B14F-4D97-AF65-F5344CB8AC3E}">
        <p14:creationId xmlns:p14="http://schemas.microsoft.com/office/powerpoint/2010/main" val="887497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D2482-2D98-4BCE-84F8-B00D85AB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4B552-7595-406A-A745-946AF7C6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Phase 1 delivery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561B7-E304-41CA-991C-A0EE0A93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A870F-3A58-4A7F-8358-C4A709C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Must-have features to launch real operations by 30 September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417E6-606E-4025-8A08-C3E3C7FE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81225"/>
            <a:ext cx="837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C"/>
          </a:solidFill>
          <a:ln xmlns:a="http://schemas.openxmlformats.org/drawingml/2006/main" w="0">
            <a:solidFill>
              <a:srgbClr val="D2D6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F3E21-C451-498F-8F97-4CA668A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B6A23-765C-40A3-86F9-4B024F2E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Weeks 1-2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B986D-ECF3-48F0-A857-E0FE398A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860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020B0-3102-49E0-9C8D-CD6908C1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62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Discovery + model lock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B09D3-26D4-490F-A1CC-DEB6050E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431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Confirm station workflows, user roles, data model, report definitions, fallback forms, launch KPIs, and acceptance criteria.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681F65-2059-46E0-AF94-9678A5C4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04A2C-53D3-4985-8CA3-A114EA4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Weeks 3-5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C82EC-F4A7-46DB-9201-94F20C9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718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16F52-C350-40A3-B882-7F86860D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480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Core platform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33463-445B-45E9-93CD-7A4F823C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289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Build customer, fleet, rental, payment reference, staff permissions, and database foundations.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8E2D1-F210-4FB8-A4AE-972F94C7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E4761-B213-4CEB-AB53-0586F66E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Weeks 6-7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A00A1-C382-4D09-A1BC-12527700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576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73A02-7DF2-460B-83C4-B93BA5E9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33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Operations modules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530A2-6328-41D5-B8E5-C75F59D7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Build maintenance, battery, incident, spare parts, QR labels, evidence capture, and fallback workflow links.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8CB36-64B8-44F6-A123-0BEAEAF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E8267-08EF-4AFB-9472-DC826D2D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Weeks 8-9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E876E-DAB0-4BBB-A137-AA1DDEA0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434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D07EF-C1D4-4BBA-9079-ABC0874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19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Dashboard +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17A0C-69D0-4C48-84D8-644728AC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4005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Build daily/monthly reports, dashboard MVP, carbon estimate, revenue reconciliation, exports, and audit views.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1FB87-8ABC-42EA-BCCA-2D64C6FD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23F60-B4E5-42A5-9F4A-94F4D488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Weeks 10-11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9B0B75-2884-4949-A57F-7AAADFA1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0292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F259D-11EF-4203-91ED-E7C7404D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105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Pilot +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C3626-6F10-4443-9D57-67BF75DC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863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Run station pilot, train administrators and technicians, test outage scenarios, and reconcile fallback records.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490A0C-6B5C-4C0C-9322-FE4A8027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783CBB-9809-4B94-8D32-4AF1E04F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Weeks 12-13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1D228-BE61-4B9F-953D-139C20D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7150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1B0CF-68EC-40D2-8681-FE1BF55A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791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Launch hardening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6EB05-F0A8-4A72-96BB-3BD1D57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7721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Fix pilot defects, complete security and data checks, finalize SOPs, freeze launch scope, and prepare go-live support.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9F587D-58B7-4987-9971-C799A9A6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03</a:t>
            </a:r>
          </a:p>
        </p:txBody>
      </p:sp>
    </p:spTree>
    <p:extLst>
      <p:ext uri="{BB962C8B-B14F-4D97-AF65-F5344CB8AC3E}">
        <p14:creationId xmlns:p14="http://schemas.microsoft.com/office/powerpoint/2010/main" val="8997323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130C31-101F-4A65-B31D-86478968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A4CDC-F4ED-48A5-8CC8-374DF24E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Phase 1 feature breakdown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78635-1C52-4E9F-9C25-5823A5F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76380-A9C5-4839-9D6E-8D10AD27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</a:defRPr>
            </a:pPr>
            <a:r>
              <a:rPr sz="1575">
                <a:solidFill>
                  <a:srgbClr val="555555"/>
                </a:solidFill>
              </a:rPr>
              <a:t>These workstreams define the MVP scope. The common acceptance test is operational traceability: every rental, payment, asset, incident, maintenance, and fallback action must be reviewable.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DC171-144F-48F9-A341-FBB49AA5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11F1F-C217-4F46-90C5-505ACB71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Rental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8E317-56E7-4AA5-9FCC-DE08C0B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75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Customer, fleet, QR asset control, check-out/check-in, battery state, photos, damage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05D27-C762-4354-9C48-FE0B4844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7170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0D101-19CA-4CAF-9591-08EC6A8D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0505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Financial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64186-0EBD-49A4-9EBA-E3EA56D5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67000"/>
            <a:ext cx="475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Thai QR / PromptPay, card/cash references, receipts, status verification, daily reconciliation.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47749-541A-4CCF-9BC0-DEF28DEF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B26F-8D2B-4992-B908-78A091E8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Asset reliability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F32A6-4AF7-40C8-82B3-59CACEEA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75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Battery ID, charging-room record, PM schedule, work orders, repair history, spare parts usage.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6C9CF-C771-448A-96D2-98439EA4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0995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9001D-DF34-4C87-BCAD-9D34CD91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72676-900A-4AA0-A579-3C13555F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475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Staff permissions, incident records, exports, audit trail, daily and monthly reports.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7F7D8-74F6-43F3-BEA9-2F989721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A1C1A-4CFB-4D73-9AE8-6822BD7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Carbon 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1278A-3E7C-4443-A706-B2F4983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75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Distance accumulation, conservative carbon estimate, daily/monthly/yearly report exports.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364AA-F645-4296-A187-AC8EBF04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48200"/>
            <a:ext cx="5095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C9D07-7CA4-483D-8D4E-0FE45F9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781550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Continuity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3C771-83D0-4052-A653-2092C9A3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43500"/>
            <a:ext cx="4752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Google Forms, Sheets, Drive evidence, and manual QR payment log for outage scenarios.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FF246-2750-48F8-B8A2-B506B1DF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04</a:t>
            </a:r>
          </a:p>
        </p:txBody>
      </p:sp>
    </p:spTree>
    <p:extLst>
      <p:ext uri="{BB962C8B-B14F-4D97-AF65-F5344CB8AC3E}">
        <p14:creationId xmlns:p14="http://schemas.microsoft.com/office/powerpoint/2010/main" val="1786017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AB030-C190-4A9B-AB37-F7E66D9B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A5ABD-ECA3-44EB-BAD8-BAB8EEB6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Phase 2 delivery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9B38C-AD31-433E-8F6B-32262B8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3A98C-E31F-4E82-B4BB-56DD661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</a:defRPr>
            </a:pPr>
            <a:r>
              <a:rPr sz="1650">
                <a:solidFill>
                  <a:srgbClr val="555555"/>
                </a:solidFill>
              </a:rPr>
              <a:t>Enhancements follow live evidence, API readiness, and staff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6E89B-4EC9-45C6-8B59-AEFF6CDE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81225"/>
            <a:ext cx="837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6DC"/>
          </a:solidFill>
          <a:ln xmlns:a="http://schemas.openxmlformats.org/drawingml/2006/main" w="0">
            <a:solidFill>
              <a:srgbClr val="D2D6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74BBE-BB0D-4B74-871C-3BBEA216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4E3B4-FC76-496F-961A-571CD54D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Oct-Nov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8B483-F002-4656-8A71-6C86D2A5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860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79784-8C28-49AA-9914-6CF409C7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62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Customer app enhancements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9A882-F938-4EFC-B7E5-4CC9BE72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3431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Self-service booking, route map, notifications, rental reminders, feedback, and UX improvements.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2FF2A-A11E-48C1-979E-A50CFD6F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668AB-BD2B-492C-B2A8-0F8325F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Nov-Dec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45B9E-4400-4400-B36A-7FE3EF00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718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FEABA-3B1A-4EE9-980D-EE534FB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480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Tourism promotion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C9239-0102-4602-994D-7D45EE44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289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Green Passport, digital stamps, hotel voucher flow, partner routes, QR check-in, and route completion badges.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0AF1-AAA2-45D7-862C-B229660B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24E6D-CDD9-4308-A3FC-84F2D18D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Dec-Jan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24333-C70A-4CA9-9336-1105A2B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576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FDA53-C064-4A87-977C-3D434CA3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33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Connected fleet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3FFE6-2900-4CB5-A4FD-D3751F47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7147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GPS, trip history, smart lock or IoT, geofence alerts, and battery monitoring where vendor APIs are ready.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B9D20-FF4A-4F8F-B15B-8C21D23A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0A797-5BBD-44E1-B91A-F93EFFAF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Jan-Feb 2027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84B0EF-8E23-4174-A449-D8D74F4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434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0E734-EFB8-4433-8D61-48AC98A7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4196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Reliability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788768-8657-4A38-9D77-AD289BA9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4005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Maintenance alerts, repeat failure reports, technician performance, battery health, and rotation optimization.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AF75D-EEF7-4F3A-9BB6-F8E00453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23AEC8-B5EA-4D40-9EF0-C56F1B80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Feb-Mar 2027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FDD833-3BC3-445E-B545-1E33EC28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0292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CCF773-5D18-42E6-8D33-01C8CB02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105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Dashboards + APIs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52624A-AD8C-4920-B06E-02E8DD9C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863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Executive, operations, fleet, financial, tourism, carbon, smart-city dashboards, and partner / IoT / payment APIs.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2FBC77-3563-48C5-AD70-C5822657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2038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E5EF4-5D66-4551-B3D9-695ADCE8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Mar 2027 onward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C3F5BB-8CD5-414F-8B55-69CBE1B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715000"/>
            <a:ext cx="83724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C00784-45C6-462F-BDD6-2765DEE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7912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Optimization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B7D4D-A402-4EBB-81A4-617A7957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772150"/>
            <a:ext cx="5229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Demand forecast, fleet rebalancing recommendation, predictive maintenance, dynamic staffing, and tourism recommendation.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9A55E8-0307-420C-B283-702E7DD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05</a:t>
            </a:r>
          </a:p>
        </p:txBody>
      </p:sp>
    </p:spTree>
    <p:extLst>
      <p:ext uri="{BB962C8B-B14F-4D97-AF65-F5344CB8AC3E}">
        <p14:creationId xmlns:p14="http://schemas.microsoft.com/office/powerpoint/2010/main" val="1214440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FF277-B395-4B6A-AAA7-7059425F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A8484-1CC3-496A-B7E8-8F566812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Phase 2 enhancement tracks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821E4-800C-4AD0-8FB5-20404030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4FD39-B1C6-4CA5-9999-EEEA44A4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58749-03EB-4FF3-8180-AF17355C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Tourism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114B7-2CD0-48EC-9F2E-791CAF9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4752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Green Passport, Green Stay, partner routes, QR check-ins, vouchers, and route badges.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9A5D6-273E-4817-A6FA-ED055C2C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62125"/>
            <a:ext cx="5095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AFB0C-3E8A-4405-80EC-A83DE831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895475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Connected fleet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7D6C0-21DC-48F8-A1F1-1EED3D59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57425"/>
            <a:ext cx="4752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GPS, smart lock, IoT, geofence, vehicle status, and battery monitoring integrations.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E8A1C-C8A3-4D30-8E6D-44637F4D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095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BFFE5-2B73-4268-BDF5-864A381B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Dashboard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6E97D-149D-4A3A-A241-9A800ED4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4752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Executive, operations, fleet, maintenance, financial, tourism, carbon, and mobility dashboards.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779BE-48CE-40E2-AD76-3BE6022A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5095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58E1D-B556-46EA-A5A3-E8745FA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24225"/>
            <a:ext cx="475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Optimization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E18FB-F17E-464B-AB10-35FAFF6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86175"/>
            <a:ext cx="4752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Demand forecast, rebalancing, predictive maintenance, battery rotation, and dynamic staffing.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774ED-B32A-40E3-9AAC-EDBA5B42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01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3B3C4-5CF6-40FB-BF41-5571B59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577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Critical control: do not add GPS, IoT, AI, carbon claims, or public dashboards until the Phase 1 dataset is complete enough to support reliable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96B59-870E-48A4-9414-904FE398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06</a:t>
            </a:r>
          </a:p>
        </p:txBody>
      </p:sp>
    </p:spTree>
    <p:extLst>
      <p:ext uri="{BB962C8B-B14F-4D97-AF65-F5344CB8AC3E}">
        <p14:creationId xmlns:p14="http://schemas.microsoft.com/office/powerpoint/2010/main" val="661933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D1496-710F-44C0-94C0-14A35BE7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Lamphun Smart Green Mobility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0E32B-5198-4587-AD47-EA5B8185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Decision gates and launch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929F7-8A92-4144-B871-D9D66E49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AE023-CF76-4D79-9351-305F911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2266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A016F-FB43-4886-8C1E-CAC723E5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C40D8-4EF4-4B3F-B45E-FE4BBA5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Launch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CD9E1-92DB-4D72-A541-C0827C09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All 100 e-bikes and batteries registered; staff can run rental, return, payment reference, maintenance, battery, incident,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366DD-23F0-4D5A-B410-97DFCB81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81200"/>
            <a:ext cx="2266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E4836-1D49-4C1F-BE10-367865B4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09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3821C-9F87-4045-B178-6C2C0FF7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384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Continuity proven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73EAA-1F19-45FC-B612-F14BAE90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76625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Backup Google Forms, Sheets, Drive evidence, and manual QR payment record are tested through an outage simulation.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46EA6-ECC9-4304-A2A9-4EF2655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2266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14AE5-BDC8-45B7-A1DC-7014685C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9BEC3-B2F8-4640-A829-65ADB6B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Phase 2 start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0C6DD-0F81-4113-A4EA-1E3E8366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Data completeness, workflow stability, staff readiness, and vendor API access are confirmed.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94786-21F9-41F3-BCC2-BA0252C2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81200"/>
            <a:ext cx="22669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6D9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0555C-FF87-48EE-AC12-9E68B0AF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98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43A11-94E6-420D-A064-17C4EF4D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384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Scale + optimize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C2040-F2D5-4FA7-8E9B-0998164E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476625"/>
            <a:ext cx="1866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</a:defRPr>
            </a:pPr>
            <a:r>
              <a:rPr sz="1200">
                <a:solidFill>
                  <a:srgbClr val="0F172A"/>
                </a:solidFill>
              </a:rPr>
              <a:t>Dashboards are used in real decisions; carbon claims are evidence-based; connected fleet data improves operations.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AD0DA-96A3-4F88-A0D4-4046BFD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timeline is intentionally phased: stabilize operations first, then add richer customer, tourism, connected-fleet, and analytics layers.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4CE9D-089B-4329-B2F1-06DF093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Phase timeline deck / 07</a:t>
            </a:r>
          </a:p>
        </p:txBody>
      </p:sp>
    </p:spTree>
    <p:extLst>
      <p:ext uri="{BB962C8B-B14F-4D97-AF65-F5344CB8AC3E}">
        <p14:creationId xmlns:p14="http://schemas.microsoft.com/office/powerpoint/2010/main" val="617963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2026-06-28T18:47:05.2990000Z</dcterms:created>
  <dcterms:modified xsi:type="dcterms:W3CDTF">2026-06-28T18:47:05.2990000Z</dcterms:modified>
</coreProperties>
</file>